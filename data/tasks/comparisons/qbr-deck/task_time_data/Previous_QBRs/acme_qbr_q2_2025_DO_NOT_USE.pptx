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ACME CORPORATION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Q2 2025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CONFIDENTIAL -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Account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Account: Acme Corporation</a:t>
            </a:r>
          </a:p>
          <a:p>
            <a:pPr>
              <a:spcAft>
                <a:spcPts val="1000"/>
              </a:spcAft>
              <a:defRPr sz="2000"/>
            </a:pPr>
            <a:r>
              <a:t>Contract Start: January 2024</a:t>
            </a:r>
          </a:p>
          <a:p>
            <a:pPr>
              <a:spcAft>
                <a:spcPts val="1000"/>
              </a:spcAft>
              <a:defRPr sz="2000"/>
            </a:pPr>
            <a:r>
              <a:t>ARR: $287,500</a:t>
            </a:r>
          </a:p>
          <a:p>
            <a:pPr>
              <a:spcAft>
                <a:spcPts val="1000"/>
              </a:spcAft>
              <a:defRPr sz="2000"/>
            </a:pPr>
            <a:r>
              <a:t>Users: 150 (licensed for 200)</a:t>
            </a:r>
          </a:p>
          <a:p>
            <a:pPr>
              <a:spcAft>
                <a:spcPts val="1000"/>
              </a:spcAft>
              <a:defRPr sz="2000"/>
            </a:pPr>
            <a:r>
              <a:t>Primary Contact: Thomas Chen, VP Operations</a:t>
            </a:r>
          </a:p>
          <a:p>
            <a:pPr>
              <a:spcAft>
                <a:spcPts val="1000"/>
              </a:spcAft>
              <a:defRPr sz="2000"/>
            </a:pPr>
            <a:r>
              <a:t>CSM: Janet Morrison</a:t>
            </a:r>
          </a:p>
          <a:p>
            <a:pPr>
              <a:spcAft>
                <a:spcPts val="1000"/>
              </a:spcAft>
              <a:defRPr sz="2000"/>
            </a:pPr>
            <a:r>
              <a:t>Renewal Date: Q1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Q2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Health Score: 78 (Target: 80)</a:t>
            </a:r>
          </a:p>
          <a:p>
            <a:pPr>
              <a:spcAft>
                <a:spcPts val="1200"/>
              </a:spcAft>
              <a:defRPr sz="2000"/>
            </a:pPr>
            <a:r>
              <a:t>• NPS: 52</a:t>
            </a:r>
          </a:p>
          <a:p>
            <a:pPr>
              <a:spcAft>
                <a:spcPts val="1200"/>
              </a:spcAft>
              <a:defRPr sz="2000"/>
            </a:pPr>
            <a:r>
              <a:t>• Support Tickets: 18 (5 escalated)</a:t>
            </a:r>
          </a:p>
          <a:p>
            <a:pPr>
              <a:spcAft>
                <a:spcPts val="1200"/>
              </a:spcAft>
              <a:defRPr sz="2000"/>
            </a:pPr>
            <a:r>
              <a:t>• Avg Resolution: 8.4 hours</a:t>
            </a:r>
          </a:p>
          <a:p>
            <a:pPr>
              <a:spcAft>
                <a:spcPts val="1200"/>
              </a:spcAft>
              <a:defRPr sz="2000"/>
            </a:pPr>
            <a:r>
              <a:t>• Feature Adoption: 67%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Open Issues &amp; Concerns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Slow onboarding - only 75% of seats activated</a:t>
            </a:r>
          </a:p>
          <a:p>
            <a:pPr>
              <a:spcAft>
                <a:spcPts val="1200"/>
              </a:spcAft>
              <a:defRPr sz="2000"/>
            </a:pPr>
            <a:r>
              <a:t>• Integration delays with legacy ERP system</a:t>
            </a:r>
          </a:p>
          <a:p>
            <a:pPr>
              <a:spcAft>
                <a:spcPts val="1200"/>
              </a:spcAft>
              <a:defRPr sz="2000"/>
            </a:pPr>
            <a:r>
              <a:t>• Request for enhanced reporting features</a:t>
            </a:r>
          </a:p>
          <a:p>
            <a:pPr>
              <a:spcAft>
                <a:spcPts val="1200"/>
              </a:spcAft>
              <a:defRPr sz="2000"/>
            </a:pPr>
            <a:r>
              <a:t>• Mobile app performance complaints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NOTE: This deck uses the old QBR template.</a:t>
            </a:r>
          </a:p>
          <a:p>
            <a:pPr algn="ctr">
              <a:defRPr sz="2400"/>
            </a:pPr>
            <a:r>
              <a:t>Please use Q3 format going forward.</a:t>
            </a:r>
          </a:p>
          <a:p>
            <a:pPr algn="ctr">
              <a:defRPr sz="1800" i="1"/>
            </a:pPr>
            <a:r>
              <a:t>- Marketing Team, August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