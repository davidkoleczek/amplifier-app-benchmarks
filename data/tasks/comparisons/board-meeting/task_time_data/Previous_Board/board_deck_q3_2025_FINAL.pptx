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NexusAI Board Update</a:t>
            </a:r>
          </a:p>
          <a:p>
            <a:pPr algn="ctr">
              <a:defRPr sz="2800"/>
            </a:pPr>
            <a:r>
              <a:t>Q3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/>
            </a:pPr>
            <a:r>
              <a:t>• Q3 Revenue: $1.82M (+18% QoQ)</a:t>
            </a:r>
          </a:p>
          <a:p>
            <a:pPr>
              <a:spcBef>
                <a:spcPts val="800"/>
              </a:spcBef>
              <a:defRPr sz="1800"/>
            </a:pPr>
            <a:r>
              <a:t>• ARR: $7.28M (ahead of plan)</a:t>
            </a:r>
          </a:p>
          <a:p>
            <a:pPr>
              <a:spcBef>
                <a:spcPts val="800"/>
              </a:spcBef>
              <a:defRPr sz="1800"/>
            </a:pPr>
            <a:r>
              <a:t>• New Enterprise Customers: 4</a:t>
            </a:r>
          </a:p>
          <a:p>
            <a:pPr>
              <a:spcBef>
                <a:spcPts val="800"/>
              </a:spcBef>
              <a:defRPr sz="1800"/>
            </a:pPr>
            <a:r>
              <a:t>• Net Revenue Retention: 112%</a:t>
            </a:r>
          </a:p>
          <a:p>
            <a:pPr>
              <a:spcBef>
                <a:spcPts val="800"/>
              </a:spcBef>
              <a:defRPr sz="1800"/>
            </a:pPr>
            <a:r>
              <a:t>• Cash Position: $3.2M (8 months runway)</a:t>
            </a:r>
          </a:p>
          <a:p>
            <a:pPr>
              <a:spcBef>
                <a:spcPts val="800"/>
              </a:spcBef>
              <a:defRPr sz="1800"/>
            </a:pPr>
            <a:r>
              <a:t>• Key Win: Fortune 500 Manufacturing Deal ($380K ACV)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Financial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/>
            </a:pPr>
            <a:r>
              <a:t>• Revenue: $1.82M (104% of target)</a:t>
            </a:r>
          </a:p>
          <a:p>
            <a:pPr>
              <a:spcBef>
                <a:spcPts val="800"/>
              </a:spcBef>
              <a:defRPr sz="1800"/>
            </a:pPr>
            <a:r>
              <a:t>• Gross Margin: 81%</a:t>
            </a:r>
          </a:p>
          <a:p>
            <a:pPr>
              <a:spcBef>
                <a:spcPts val="800"/>
              </a:spcBef>
              <a:defRPr sz="1800"/>
            </a:pPr>
            <a:r>
              <a:t>• Operating Expenses: $1.45M</a:t>
            </a:r>
          </a:p>
          <a:p>
            <a:pPr>
              <a:spcBef>
                <a:spcPts val="800"/>
              </a:spcBef>
              <a:defRPr sz="1800"/>
            </a:pPr>
            <a:r>
              <a:t>• Net Burn: $420K/month</a:t>
            </a:r>
          </a:p>
          <a:p>
            <a:pPr>
              <a:spcBef>
                <a:spcPts val="800"/>
              </a:spcBef>
              <a:defRPr sz="1800"/>
            </a:pPr>
            <a:r>
              <a:t>• Cash: $3.2M remaining</a:t>
            </a:r>
          </a:p>
          <a:p>
            <a:pPr>
              <a:spcBef>
                <a:spcPts val="800"/>
              </a:spcBef>
              <a:defRPr sz="1800"/>
            </a:pPr>
            <a:r>
              <a:t>• Headcount: 38 FTEs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Engineering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/>
            </a:pPr>
            <a:r>
              <a:t>• Platform 2.0 beta launched on schedule</a:t>
            </a:r>
          </a:p>
          <a:p>
            <a:pPr>
              <a:spcBef>
                <a:spcPts val="800"/>
              </a:spcBef>
              <a:defRPr sz="1800"/>
            </a:pPr>
            <a:r>
              <a:t>• API response time improved 40%</a:t>
            </a:r>
          </a:p>
          <a:p>
            <a:pPr>
              <a:spcBef>
                <a:spcPts val="800"/>
              </a:spcBef>
              <a:defRPr sz="1800"/>
            </a:pPr>
            <a:r>
              <a:t>• 99.7% uptime (target: 99.5%)</a:t>
            </a:r>
          </a:p>
          <a:p>
            <a:pPr>
              <a:spcBef>
                <a:spcPts val="800"/>
              </a:spcBef>
              <a:defRPr sz="1800"/>
            </a:pPr>
            <a:r>
              <a:t>• 3 new integrations shipped</a:t>
            </a:r>
          </a:p>
          <a:p>
            <a:pPr>
              <a:spcBef>
                <a:spcPts val="800"/>
              </a:spcBef>
              <a:defRPr sz="1800"/>
            </a:pPr>
            <a:r>
              <a:t>• Technical debt sprint completed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Product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/>
            </a:pPr>
            <a:r>
              <a:t>• Dashboard redesign shipped (NPS +15)</a:t>
            </a:r>
          </a:p>
          <a:p>
            <a:pPr>
              <a:spcBef>
                <a:spcPts val="800"/>
              </a:spcBef>
              <a:defRPr sz="1800"/>
            </a:pPr>
            <a:r>
              <a:t>• Mobile app in beta testing</a:t>
            </a:r>
          </a:p>
          <a:p>
            <a:pPr>
              <a:spcBef>
                <a:spcPts val="800"/>
              </a:spcBef>
              <a:defRPr sz="1800"/>
            </a:pPr>
            <a:r>
              <a:t>• AI forecasting accuracy: 94.2%</a:t>
            </a:r>
          </a:p>
          <a:p>
            <a:pPr>
              <a:spcBef>
                <a:spcPts val="800"/>
              </a:spcBef>
              <a:defRPr sz="1800"/>
            </a:pPr>
            <a:r>
              <a:t>• Customer-requested features delivered: 12/15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Sales &amp; GTM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/>
            </a:pPr>
            <a:r>
              <a:t>• 4 new enterprise customers closed</a:t>
            </a:r>
          </a:p>
          <a:p>
            <a:pPr>
              <a:spcBef>
                <a:spcPts val="800"/>
              </a:spcBef>
              <a:defRPr sz="1800"/>
            </a:pPr>
            <a:r>
              <a:t>• Pipeline: $4.2M (3.2x coverage)</a:t>
            </a:r>
          </a:p>
          <a:p>
            <a:pPr>
              <a:spcBef>
                <a:spcPts val="800"/>
              </a:spcBef>
              <a:defRPr sz="1800"/>
            </a:pPr>
            <a:r>
              <a:t>• Average deal size: $95K (+12% QoQ)</a:t>
            </a:r>
          </a:p>
          <a:p>
            <a:pPr>
              <a:spcBef>
                <a:spcPts val="800"/>
              </a:spcBef>
              <a:defRPr sz="1800"/>
            </a:pPr>
            <a:r>
              <a:t>• Sales cycle: 68 days (down from 82)</a:t>
            </a:r>
          </a:p>
          <a:p>
            <a:pPr>
              <a:spcBef>
                <a:spcPts val="800"/>
              </a:spcBef>
              <a:defRPr sz="1800"/>
            </a:pPr>
            <a:r>
              <a:t>• Win rate: 34%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Q4 Priorities &amp;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/>
            </a:pPr>
            <a:r>
              <a:t>• Launch Platform 2.0 GA</a:t>
            </a:r>
          </a:p>
          <a:p>
            <a:pPr>
              <a:spcBef>
                <a:spcPts val="800"/>
              </a:spcBef>
              <a:defRPr sz="1800"/>
            </a:pPr>
            <a:r>
              <a:t>• Close 6+ enterprise deals</a:t>
            </a:r>
          </a:p>
          <a:p>
            <a:pPr>
              <a:spcBef>
                <a:spcPts val="800"/>
              </a:spcBef>
              <a:defRPr sz="1800"/>
            </a:pPr>
            <a:r>
              <a:t>• Begin Series B preparation</a:t>
            </a:r>
          </a:p>
          <a:p>
            <a:pPr>
              <a:spcBef>
                <a:spcPts val="800"/>
              </a:spcBef>
              <a:defRPr sz="1800"/>
            </a:pPr>
            <a:r>
              <a:t>• Expand to UK market</a:t>
            </a:r>
          </a:p>
          <a:p>
            <a:pPr>
              <a:spcBef>
                <a:spcPts val="800"/>
              </a:spcBef>
              <a:defRPr sz="1800"/>
            </a:pPr>
            <a:r>
              <a:t>• Achieve $8.5M ARR target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