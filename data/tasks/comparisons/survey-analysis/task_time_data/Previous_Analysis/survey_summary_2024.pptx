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Employee Engagement Survey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Annual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Presented to Leadership Team | February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Response Rate: 83.2% (237 of 285 employees) - up from 82.5% in 2023</a:t>
            </a:r>
          </a:p>
          <a:p>
            <a:pPr>
              <a:spcAft>
                <a:spcPts val="1200"/>
              </a:spcAft>
              <a:defRPr sz="1800"/>
            </a:pPr>
            <a:r>
              <a:t>• Overall Engagement Score: 3.52 (vs. 3.45 in 2023, +2%)</a:t>
            </a:r>
          </a:p>
          <a:p>
            <a:pPr>
              <a:spcAft>
                <a:spcPts val="1200"/>
              </a:spcAft>
              <a:defRPr sz="1800"/>
            </a:pPr>
            <a:r>
              <a:t>• Top Performing Category: Culture &amp; Inclusion (3.87)</a:t>
            </a:r>
          </a:p>
          <a:p>
            <a:pPr>
              <a:spcAft>
                <a:spcPts val="1200"/>
              </a:spcAft>
              <a:defRPr sz="1800"/>
            </a:pPr>
            <a:r>
              <a:t>• Areas of Concern: Leadership Trust (3.19), Wellbeing (3.08)</a:t>
            </a:r>
          </a:p>
          <a:p>
            <a:pPr>
              <a:spcAft>
                <a:spcPts val="1200"/>
              </a:spcAft>
              <a:defRPr sz="1800"/>
            </a:pPr>
            <a:r>
              <a:t>• Key Theme from Comments: Workload and burnout concerns</a:t>
            </a:r>
          </a:p>
          <a:p>
            <a:pPr>
              <a:spcAft>
                <a:spcPts val="1200"/>
              </a:spcAft>
              <a:defRPr sz="1800"/>
            </a:pPr>
            <a:r>
              <a:t>• Recommended Focus Areas: Manager communication, career development paths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Scores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Culture &amp; Inclusion: 3.87  (↑ +0.12 vs 2023)</a:t>
            </a:r>
          </a:p>
          <a:p>
            <a:pPr>
              <a:spcAft>
                <a:spcPts val="1600"/>
              </a:spcAft>
              <a:defRPr sz="2000"/>
            </a:pPr>
            <a:r>
              <a:t>Engagement: 3.78  (↑ +0.08 vs 2023)</a:t>
            </a:r>
          </a:p>
          <a:p>
            <a:pPr>
              <a:spcAft>
                <a:spcPts val="1600"/>
              </a:spcAft>
              <a:defRPr sz="2000"/>
            </a:pPr>
            <a:r>
              <a:t>Job Satisfaction: 3.48  (↑ +0.05 vs 2023)</a:t>
            </a:r>
          </a:p>
          <a:p>
            <a:pPr>
              <a:spcAft>
                <a:spcPts val="1600"/>
              </a:spcAft>
              <a:defRPr sz="2000"/>
            </a:pPr>
            <a:r>
              <a:t>Growth &amp; Development: 3.32  (↑ +0.03 vs 2023)</a:t>
            </a:r>
          </a:p>
          <a:p>
            <a:pPr>
              <a:spcAft>
                <a:spcPts val="1600"/>
              </a:spcAft>
              <a:defRPr sz="2000"/>
            </a:pPr>
            <a:r>
              <a:t>Leadership: 3.19  (↓ -0.02 vs 2023)</a:t>
            </a:r>
          </a:p>
          <a:p>
            <a:pPr>
              <a:spcAft>
                <a:spcPts val="1600"/>
              </a:spcAft>
              <a:defRPr sz="2000"/>
            </a:pPr>
            <a:r>
              <a:t>Wellbeing: 3.08  (↓ -0.05 vs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Department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Highest Scoring</a:t>
            </a:r>
          </a:p>
          <a:p>
            <a:pPr>
              <a:defRPr sz="1800"/>
            </a:pPr>
            <a:r>
              <a:t>• Product (3.82)</a:t>
            </a:r>
          </a:p>
          <a:p>
            <a:pPr>
              <a:defRPr sz="1800"/>
            </a:pPr>
            <a:r>
              <a:t>• Engineering (3.71)</a:t>
            </a:r>
          </a:p>
          <a:p>
            <a:pPr>
              <a:defRPr sz="1800"/>
            </a:pPr>
            <a:r>
              <a:t>• HR (3.68)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Needs Attention</a:t>
            </a:r>
          </a:p>
          <a:p>
            <a:pPr>
              <a:defRPr sz="1800"/>
            </a:pPr>
            <a:r>
              <a:t>• Customer Support (3.12)</a:t>
            </a:r>
          </a:p>
          <a:p>
            <a:pPr>
              <a:defRPr sz="1800"/>
            </a:pPr>
            <a:r>
              <a:t>• Operations (3.24)</a:t>
            </a:r>
          </a:p>
          <a:p>
            <a:pPr>
              <a:defRPr sz="1800"/>
            </a:pPr>
            <a:r>
              <a:t>• Sales (3.31)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Themes from Open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• Workload Concerns (47 mentions) - Burnout, unsustainable pace, need for better prioritization</a:t>
            </a:r>
          </a:p>
          <a:p>
            <a:pPr>
              <a:spcAft>
                <a:spcPts val="1400"/>
              </a:spcAft>
              <a:defRPr sz="1600"/>
            </a:pPr>
            <a:r>
              <a:t>• Career Development (38 mentions) - Unclear paths, limited IC track, desire for more training</a:t>
            </a:r>
          </a:p>
          <a:p>
            <a:pPr>
              <a:spcAft>
                <a:spcPts val="1400"/>
              </a:spcAft>
              <a:defRPr sz="1600"/>
            </a:pPr>
            <a:r>
              <a:t>• Communication (29 mentions) - Leadership visibility, decision transparency, strategy clarity</a:t>
            </a:r>
          </a:p>
          <a:p>
            <a:pPr>
              <a:spcAft>
                <a:spcPts val="1400"/>
              </a:spcAft>
              <a:defRPr sz="1600"/>
            </a:pPr>
            <a:r>
              <a:t>• Compensation (24 mentions) - Market competitiveness, equity concerns, recognition</a:t>
            </a:r>
          </a:p>
          <a:p>
            <a:pPr>
              <a:spcAft>
                <a:spcPts val="1400"/>
              </a:spcAft>
              <a:defRPr sz="1600"/>
            </a:pPr>
            <a:r>
              <a:t>• Team Culture (21 mentions) - Positive about immediate teams, collaboration improving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Recommended Actions for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1. Launch IC career track framework (Growth)</a:t>
            </a:r>
          </a:p>
          <a:p>
            <a:pPr>
              <a:spcAft>
                <a:spcPts val="1600"/>
              </a:spcAft>
              <a:defRPr sz="2000"/>
            </a:pPr>
            <a:r>
              <a:t>2. Implement quarterly 'Ask Leadership Anything' sessions (Leadership)</a:t>
            </a:r>
          </a:p>
          <a:p>
            <a:pPr>
              <a:spcAft>
                <a:spcPts val="1600"/>
              </a:spcAft>
              <a:defRPr sz="2000"/>
            </a:pPr>
            <a:r>
              <a:t>3. Review workload distribution in Customer Support and Operations (Wellbeing)</a:t>
            </a:r>
          </a:p>
          <a:p>
            <a:pPr>
              <a:spcAft>
                <a:spcPts val="1600"/>
              </a:spcAft>
              <a:defRPr sz="2000"/>
            </a:pPr>
            <a:r>
              <a:t>4. Conduct compensation benchmarking study (Satisfaction)</a:t>
            </a:r>
          </a:p>
          <a:p>
            <a:pPr>
              <a:spcAft>
                <a:spcPts val="1600"/>
              </a:spcAft>
              <a:defRPr sz="2000"/>
            </a:pPr>
            <a:r>
              <a:t>5. Expand manager training program (Leadership)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