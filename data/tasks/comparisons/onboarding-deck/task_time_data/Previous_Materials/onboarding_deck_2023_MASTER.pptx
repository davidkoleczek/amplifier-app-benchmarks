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Welcome to HorizonWorks!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New Employee Onboarding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1. Who We Are &amp; Our Mission</a:t>
            </a:r>
          </a:p>
          <a:p>
            <a:pPr>
              <a:spcAft>
                <a:spcPts val="1200"/>
              </a:spcAft>
              <a:defRPr sz="2400"/>
            </a:pPr>
            <a:r>
              <a:t>2. Our Explosive Growth Story</a:t>
            </a:r>
          </a:p>
          <a:p>
            <a:pPr>
              <a:spcAft>
                <a:spcPts val="1200"/>
              </a:spcAft>
              <a:defRPr sz="2400"/>
            </a:pPr>
            <a:r>
              <a:t>3. Company Values</a:t>
            </a:r>
          </a:p>
          <a:p>
            <a:pPr>
              <a:spcAft>
                <a:spcPts val="1200"/>
              </a:spcAft>
              <a:defRPr sz="2400"/>
            </a:pPr>
            <a:r>
              <a:t>4. Benefits Overview</a:t>
            </a:r>
          </a:p>
          <a:p>
            <a:pPr>
              <a:spcAft>
                <a:spcPts val="1200"/>
              </a:spcAft>
              <a:defRPr sz="2400"/>
            </a:pPr>
            <a:r>
              <a:t>5. Organizational Structure</a:t>
            </a:r>
          </a:p>
          <a:p>
            <a:pPr>
              <a:spcAft>
                <a:spcPts val="1200"/>
              </a:spcAft>
              <a:defRPr sz="2400"/>
            </a:pPr>
            <a:r>
              <a:t>6. IT &amp; Security Requirements</a:t>
            </a:r>
          </a:p>
          <a:p>
            <a:pPr>
              <a:spcAft>
                <a:spcPts val="1200"/>
              </a:spcAft>
              <a:defRPr sz="2400"/>
            </a:pPr>
            <a:r>
              <a:t>7. Your First Week</a:t>
            </a:r>
          </a:p>
          <a:p>
            <a:pPr>
              <a:spcAft>
                <a:spcPts val="1200"/>
              </a:spcAft>
              <a:defRPr sz="2400"/>
            </a:pPr>
            <a:r>
              <a:t>8.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About HorizonWorks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Founded in 2018, HorizonWorks is revolutionizing enterprise productivity.</a:t>
            </a:r>
          </a:p>
          <a:p/>
          <a:p>
            <a:pPr>
              <a:defRPr sz="2400" b="1"/>
            </a:pPr>
            <a:r>
              <a:t>Key Facts:</a:t>
            </a:r>
          </a:p>
          <a:p>
            <a:pPr>
              <a:defRPr sz="2000"/>
            </a:pPr>
            <a:r>
              <a:t>  Over 2,000 employees globally</a:t>
            </a:r>
          </a:p>
          <a:p>
            <a:pPr>
              <a:defRPr sz="2000"/>
            </a:pPr>
            <a:r>
              <a:t>  Raised $500M in funding</a:t>
            </a:r>
          </a:p>
          <a:p>
            <a:pPr>
              <a:defRPr sz="2000"/>
            </a:pPr>
            <a:r>
              <a:t>  2,500+ enterprise customers</a:t>
            </a:r>
          </a:p>
          <a:p>
            <a:pPr>
              <a:defRPr sz="2000"/>
            </a:pPr>
            <a:r>
              <a:t>  Offices in 12 countries</a:t>
            </a:r>
          </a:p>
          <a:p>
            <a:pPr>
              <a:defRPr sz="2000"/>
            </a:pPr>
            <a:r>
              <a:t>  Named 'Fastest Growing Enterprise Software Company' 3 years running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Our Rapid Growth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We're growing faster than ever!</a:t>
            </a:r>
          </a:p>
          <a:p/>
          <a:p>
            <a:pPr>
              <a:spcAft>
                <a:spcPts val="800"/>
              </a:spcAft>
              <a:defRPr sz="2000"/>
            </a:pPr>
            <a:r>
              <a:t>  2020: 200 employees -&gt; 2023: 2,000+ employees (10x growth!)</a:t>
            </a:r>
          </a:p>
          <a:p>
            <a:pPr>
              <a:spcAft>
                <a:spcPts val="800"/>
              </a:spcAft>
              <a:defRPr sz="2000"/>
            </a:pPr>
            <a:r>
              <a:t>  Adding 50+ new hires every month</a:t>
            </a:r>
          </a:p>
          <a:p>
            <a:pPr>
              <a:spcAft>
                <a:spcPts val="800"/>
              </a:spcAft>
              <a:defRPr sz="2000"/>
            </a:pPr>
            <a:r>
              <a:t>  Revenue doubled year-over-year for 3 consecutive years</a:t>
            </a:r>
          </a:p>
          <a:p>
            <a:pPr>
              <a:spcAft>
                <a:spcPts val="800"/>
              </a:spcAft>
              <a:defRPr sz="2000"/>
            </a:pPr>
            <a:r>
              <a:t>  Expanding to 5 new markets in 2024</a:t>
            </a:r>
          </a:p>
          <a:p>
            <a:pPr>
              <a:spcAft>
                <a:spcPts val="800"/>
              </a:spcAft>
              <a:defRPr sz="2000"/>
            </a:pPr>
            <a:r>
              <a:t>  'Hypergrowth' recognized by Fortune Magazine</a:t>
            </a:r>
          </a:p>
          <a:p/>
          <a:p>
            <a:pPr>
              <a:defRPr sz="2400" i="1"/>
            </a:pPr>
            <a:r>
              <a:t>Join us on this rocket ship!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Our Core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Move Fast and Break Things</a:t>
            </a:r>
          </a:p>
          <a:p>
            <a:pPr>
              <a:defRPr sz="1800" i="1"/>
            </a:pPr>
            <a:r>
              <a:t>   Speed is our competitive advantage</a:t>
            </a:r>
          </a:p>
          <a:p/>
          <a:p>
            <a:pPr>
              <a:defRPr sz="2400" b="1"/>
            </a:pPr>
            <a:r>
              <a:t>Relentless Growth</a:t>
            </a:r>
          </a:p>
          <a:p>
            <a:pPr>
              <a:defRPr sz="1800" i="1"/>
            </a:pPr>
            <a:r>
              <a:t>   Every decision should drive growth</a:t>
            </a:r>
          </a:p>
          <a:p/>
          <a:p>
            <a:pPr>
              <a:defRPr sz="2400" b="1"/>
            </a:pPr>
            <a:r>
              <a:t>Customer Obsession</a:t>
            </a:r>
          </a:p>
          <a:p>
            <a:pPr>
              <a:defRPr sz="1800" i="1"/>
            </a:pPr>
            <a:r>
              <a:t>   The customer is always our north star</a:t>
            </a:r>
          </a:p>
          <a:p/>
          <a:p>
            <a:pPr>
              <a:defRPr sz="2400" b="1"/>
            </a:pPr>
            <a:r>
              <a:t>Work Hard, Play Hard</a:t>
            </a:r>
          </a:p>
          <a:p>
            <a:pPr>
              <a:defRPr sz="1800" i="1"/>
            </a:pPr>
            <a:r>
              <a:t>   Excellence and celebration go together</a:t>
            </a:r>
          </a:p>
          <a:p/>
          <a:p>
            <a:pPr>
              <a:defRPr sz="2400" b="1"/>
            </a:pPr>
            <a:r>
              <a:t>One Team, One Dream</a:t>
            </a:r>
          </a:p>
          <a:p>
            <a:pPr>
              <a:defRPr sz="1800" i="1"/>
            </a:pPr>
            <a:r>
              <a:t>   No silos, no politics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Benefits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Health &amp; Wellness</a:t>
            </a:r>
          </a:p>
          <a:p>
            <a:pPr>
              <a:defRPr sz="1600"/>
            </a:pPr>
            <a:r>
              <a:t>  Medical (Aetna): 4 plan options</a:t>
            </a:r>
          </a:p>
          <a:p>
            <a:pPr>
              <a:defRPr sz="1600"/>
            </a:pPr>
            <a:r>
              <a:t>  Dental (Delta Dental)</a:t>
            </a:r>
          </a:p>
          <a:p>
            <a:pPr>
              <a:defRPr sz="1600"/>
            </a:pPr>
            <a:r>
              <a:t>  Vision (VSP)</a:t>
            </a:r>
          </a:p>
          <a:p>
            <a:pPr>
              <a:defRPr sz="1600"/>
            </a:pPr>
            <a:r>
              <a:t>  6 free therapy sessions</a:t>
            </a:r>
          </a:p>
          <a:p>
            <a:pPr>
              <a:defRPr sz="1600"/>
            </a:pPr>
            <a:r>
              <a:t>  $50/month gym reimbursement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Financial &amp; Time Off</a:t>
            </a:r>
          </a:p>
          <a:p>
            <a:pPr>
              <a:defRPr sz="1600"/>
            </a:pPr>
            <a:r>
              <a:t>  401(k) with 4% match</a:t>
            </a:r>
          </a:p>
          <a:p>
            <a:pPr>
              <a:defRPr sz="1600"/>
            </a:pPr>
            <a:r>
              <a:t>  Employee Stock Purchase Program</a:t>
            </a:r>
          </a:p>
          <a:p>
            <a:pPr>
              <a:defRPr sz="1600"/>
            </a:pPr>
            <a:r>
              <a:t>  15 days PTO + 10 holidays</a:t>
            </a:r>
          </a:p>
          <a:p>
            <a:pPr>
              <a:defRPr sz="1600"/>
            </a:pPr>
            <a:r>
              <a:t>  12 weeks parental leave</a:t>
            </a:r>
          </a:p>
          <a:p>
            <a:pPr>
              <a:defRPr sz="1600"/>
            </a:pPr>
            <a:r>
              <a:t>  Commuter benefits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Organizational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Leadership Team</a:t>
            </a:r>
          </a:p>
          <a:p>
            <a:pPr>
              <a:defRPr sz="1800"/>
            </a:pPr>
            <a:r>
              <a:t>  CEO: Marcus Webb (Founder)</a:t>
            </a:r>
          </a:p>
          <a:p>
            <a:pPr>
              <a:defRPr sz="1800"/>
            </a:pPr>
            <a:r>
              <a:t>  CFO: Thomas Anderson</a:t>
            </a:r>
          </a:p>
          <a:p>
            <a:pPr>
              <a:defRPr sz="1800"/>
            </a:pPr>
            <a:r>
              <a:t>  CTO: Robert Chang</a:t>
            </a:r>
          </a:p>
          <a:p>
            <a:pPr>
              <a:defRPr sz="1800"/>
            </a:pPr>
            <a:r>
              <a:t>  CPO: Jennifer Martinez</a:t>
            </a:r>
          </a:p>
          <a:p>
            <a:pPr>
              <a:defRPr sz="1800"/>
            </a:pPr>
            <a:r>
              <a:t>  CHRO: Michael Stevens</a:t>
            </a:r>
          </a:p>
          <a:p>
            <a:pPr>
              <a:defRPr sz="1800"/>
            </a:pPr>
            <a:r>
              <a:t>  CMO: Lisa Park</a:t>
            </a:r>
          </a:p>
          <a:p>
            <a:pPr>
              <a:defRPr sz="1800"/>
            </a:pPr>
            <a:r>
              <a:t>  CRO: David Thompson</a:t>
            </a:r>
          </a:p>
          <a:p/>
          <a:p>
            <a:pPr>
              <a:defRPr sz="1600" i="1"/>
            </a:pPr>
            <a:r>
              <a:t>See attached org chart for full 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IT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Day 1 Setup Requirements:</a:t>
            </a:r>
          </a:p>
          <a:p>
            <a:pPr>
              <a:defRPr sz="1800"/>
            </a:pPr>
            <a:r>
              <a:t>  Laptop setup (IT will assist)</a:t>
            </a:r>
          </a:p>
          <a:p>
            <a:pPr>
              <a:defRPr sz="1800"/>
            </a:pPr>
            <a:r>
              <a:t>  Cisco AnyConnect VPN installation</a:t>
            </a:r>
          </a:p>
          <a:p>
            <a:pPr>
              <a:defRPr sz="1800"/>
            </a:pPr>
            <a:r>
              <a:t>  Okta SSO enrollment</a:t>
            </a:r>
          </a:p>
          <a:p>
            <a:pPr>
              <a:defRPr sz="1800"/>
            </a:pPr>
            <a:r>
              <a:t>  Required tools: Gmail, Slack, Zoom, Jira, Confluence</a:t>
            </a:r>
          </a:p>
          <a:p>
            <a:pPr>
              <a:defRPr sz="1800"/>
            </a:pPr>
            <a:r>
              <a:t>  Security training (complete within 30 days)</a:t>
            </a:r>
          </a:p>
          <a:p>
            <a:pPr>
              <a:defRPr sz="1800"/>
            </a:pPr>
            <a:r>
              <a:t>  Data classification training</a:t>
            </a:r>
          </a:p>
          <a:p/>
          <a:p>
            <a:pPr>
              <a:defRPr sz="1600" i="1"/>
            </a:pPr>
            <a:r>
              <a:t>IT Help Desk: helpdesk@horizonworks.com | x4357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Your First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Day 1: Welcome &amp; IT Setup</a:t>
            </a:r>
          </a:p>
          <a:p>
            <a:pPr>
              <a:defRPr sz="2200"/>
            </a:pPr>
            <a:r>
              <a:t>Day 2: Company &amp; Product Overview</a:t>
            </a:r>
          </a:p>
          <a:p>
            <a:pPr>
              <a:defRPr sz="2200"/>
            </a:pPr>
            <a:r>
              <a:t>Day 3: Team Introductions</a:t>
            </a:r>
          </a:p>
          <a:p>
            <a:pPr>
              <a:defRPr sz="2200"/>
            </a:pPr>
            <a:r>
              <a:t>Day 4: Role-Specific Training</a:t>
            </a:r>
          </a:p>
          <a:p>
            <a:pPr>
              <a:defRPr sz="2200"/>
            </a:pPr>
            <a:r>
              <a:t>Day 5: First Project Kickoff</a:t>
            </a:r>
          </a:p>
          <a:p/>
          <a:p>
            <a:pPr>
              <a:defRPr sz="1600" i="1"/>
            </a:pPr>
            <a:r>
              <a:t>Your manager will provide a detailed schedule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HR: hr@horizonworks.com | Your Manager | Your Onboarding Buddy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